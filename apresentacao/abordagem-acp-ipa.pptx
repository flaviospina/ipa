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Atenção</c:v>
                </c:pt>
              </c:strCache>
            </c:strRef>
          </c:tx>
          <c:spPr>
            <a:solidFill>
              <a:srgbClr val="E07A5F"/>
            </a:solidFill>
            <a:ln w="50800" cap="flat">
              <a:solidFill>
                <a:srgbClr val="E07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E07A5F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Início</c:v>
                  </c:pt>
                  <c:pt idx="1">
                    <c:v>Durante</c:v>
                  </c:pt>
                  <c:pt idx="2">
                    <c:v>Término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5</c:v>
                </c:pt>
                <c:pt idx="2">
                  <c:v>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Comunicação</c:v>
                </c:pt>
              </c:strCache>
            </c:strRef>
          </c:tx>
          <c:spPr>
            <a:solidFill>
              <a:srgbClr val="E9B44C"/>
            </a:solidFill>
            <a:ln w="50800" cap="flat">
              <a:solidFill>
                <a:srgbClr val="E9B4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E9B44C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Início</c:v>
                  </c:pt>
                  <c:pt idx="1">
                    <c:v>Durante</c:v>
                  </c:pt>
                  <c:pt idx="2">
                    <c:v>Término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</c:v>
                </c:pt>
                <c:pt idx="1">
                  <c:v>7</c:v>
                </c:pt>
                <c:pt idx="2">
                  <c:v>8.5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Procedimento</c:v>
                </c:pt>
              </c:strCache>
            </c:strRef>
          </c:tx>
          <c:spPr>
            <a:solidFill>
              <a:srgbClr val="2A9D8F"/>
            </a:solidFill>
            <a:ln w="5080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2A9D8F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Início</c:v>
                  </c:pt>
                  <c:pt idx="1">
                    <c:v>Durante</c:v>
                  </c:pt>
                  <c:pt idx="2">
                    <c:v>Término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</c:v>
                </c:pt>
                <c:pt idx="1">
                  <c:v>9</c:v>
                </c:pt>
                <c:pt idx="2">
                  <c:v>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0E22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l"/>
        <c:majorGridlines>
          <c:spPr>
            <a:ln w="12700" cap="flat">
              <a:solidFill>
                <a:srgbClr val="E4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E22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Apresentar os dois consultores em 30 segundos e ir direto para as três perguntas do próximo slide. Não vender ainda — perguntar.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Fazer as três perguntas em voz alta e ESPERAR a resposta. O silêncio é o gatilho. Anotar a resposta do decisor — ela será usada no slide 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Ancoragem com dado externo (autoridade). Não insistir no número — usar como ponte para a pergunta de implicação no rodapé.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960120"/>
            <a:ext cx="3200400" cy="3200400"/>
          </a:xfrm>
          <a:prstGeom prst="ellipse">
            <a:avLst/>
          </a:prstGeom>
          <a:solidFill>
            <a:srgbClr val="E07A5F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2788920"/>
            <a:ext cx="3200400" cy="3200400"/>
          </a:xfrm>
          <a:prstGeom prst="ellipse">
            <a:avLst/>
          </a:prstGeom>
          <a:solidFill>
            <a:srgbClr val="E9B44C">
              <a:alpha val="2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29400" y="2788920"/>
            <a:ext cx="3200400" cy="3200400"/>
          </a:xfrm>
          <a:prstGeom prst="ellipse">
            <a:avLst/>
          </a:prstGeom>
          <a:solidFill>
            <a:srgbClr val="2A9D8F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34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EXECUTIVA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627632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ABORDAGEM ACP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3101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atendimento baseada em comportamentos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22960" y="409651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B3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0965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77440" y="4096512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3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40965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4096512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1B3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40965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486460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metodologia para transformar a linha de frente através da consciência e do desenvolvimento de competências comportamentais.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806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José Santos Milreu</a:t>
            </a:r>
            <a:pPr indent="0" marL="0">
              <a:buNone/>
            </a:pPr>
            <a:r>
              <a:rPr lang="en-US" sz="1300" dirty="0">
                <a:solidFill>
                  <a:srgbClr val="2C5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 Zuvela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6126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implantação  ·  Reunião de Diretoria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perguntas para a diretoria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 respostas forem confortáveis, esta reunião pode ser curta.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3364992" cy="2788920"/>
          </a:xfrm>
          <a:prstGeom prst="roundRect">
            <a:avLst>
              <a:gd name="adj" fmla="val 2951"/>
            </a:avLst>
          </a:prstGeom>
          <a:solidFill>
            <a:srgbClr val="1B3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" y="2606040"/>
            <a:ext cx="603504" cy="603504"/>
          </a:xfrm>
          <a:prstGeom prst="ellipse">
            <a:avLst/>
          </a:prstGeom>
          <a:solidFill>
            <a:srgbClr val="E07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6060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9848" y="3401568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eu perguntar a três dos seus clientes como foi o atendimento de ontem, as três respostas seriam iguais?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3400" y="2240280"/>
            <a:ext cx="3364992" cy="2788920"/>
          </a:xfrm>
          <a:prstGeom prst="roundRect">
            <a:avLst>
              <a:gd name="adj" fmla="val 2951"/>
            </a:avLst>
          </a:prstGeom>
          <a:solidFill>
            <a:srgbClr val="1B3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27448" y="2606040"/>
            <a:ext cx="603504" cy="603504"/>
          </a:xfrm>
          <a:prstGeom prst="ellipse">
            <a:avLst/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7448" y="26060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27448" y="3401568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Hoje, você consegue explicar com dados por que um profissional encanta e outro afasta?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01000" y="2240280"/>
            <a:ext cx="3364992" cy="2788920"/>
          </a:xfrm>
          <a:prstGeom prst="roundRect">
            <a:avLst>
              <a:gd name="adj" fmla="val 2951"/>
            </a:avLst>
          </a:prstGeom>
          <a:solidFill>
            <a:srgbClr val="1B3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85048" y="2606040"/>
            <a:ext cx="603504" cy="6035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26060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5048" y="3401568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da sua receita depende de um comportamento que ninguém mede?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53492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as suas respostas. Vamos voltar a elas no final desta apresentação.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ACP  ·  Indicador IPA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81360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cliente não reclama. Ele troca.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experiência deixou de ser diferencial e virou critério de permanência.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3364992" cy="2697480"/>
          </a:xfrm>
          <a:prstGeom prst="roundRect">
            <a:avLst>
              <a:gd name="adj" fmla="val 3051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45059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52%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1051560" y="3584448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consumidores deixaram de comprar de uma marca após uma experiência ruim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2194560"/>
            <a:ext cx="3364992" cy="2697480"/>
          </a:xfrm>
          <a:prstGeom prst="roundRect">
            <a:avLst>
              <a:gd name="adj" fmla="val 3051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245059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4709160" y="3584448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pararam especificamente por causa de um atendimento ruim — online ou presencial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01000" y="2194560"/>
            <a:ext cx="3364992" cy="2697480"/>
          </a:xfrm>
          <a:prstGeom prst="roundRect">
            <a:avLst>
              <a:gd name="adj" fmla="val 3051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245059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8366760" y="3584448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dizem estar dispostos a pagar mais por uma experiência superior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5029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PwC — Customer Experience Survey 2025 (52% e 29%); PwC — Experience Is Everything (86%).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5532120"/>
            <a:ext cx="10817352" cy="658368"/>
          </a:xfrm>
          <a:prstGeom prst="roundRect">
            <a:avLst>
              <a:gd name="adj" fmla="val 12500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678424"/>
            <a:ext cx="365760" cy="365760"/>
          </a:xfrm>
          <a:prstGeom prst="ellipse">
            <a:avLst/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678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17320" y="55321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sua operação, quantos clientes saíram no último ano sem que ninguém soubesse o motivo real?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ACP  ·  Indicador IPA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81360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mundo mede o resultado. Quase ninguém mede o comportamento que o produz.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por isso que o mesmo treinamento gera resultados tão diferentes entre profissionais.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5257800" cy="2788920"/>
          </a:xfrm>
          <a:prstGeom prst="roundRect">
            <a:avLst>
              <a:gd name="adj" fmla="val 2951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MEDE HOJE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017520"/>
            <a:ext cx="4526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 de atendimento (TMA)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chamados e filas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de satisfação depois do fato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Cumprimento de script e checklist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2377440"/>
            <a:ext cx="5239512" cy="2788920"/>
          </a:xfrm>
          <a:prstGeom prst="roundRect">
            <a:avLst>
              <a:gd name="adj" fmla="val 2951"/>
            </a:avLst>
          </a:prstGeom>
          <a:solidFill>
            <a:srgbClr val="0E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DEFINE O JULGAMENTO DO CLIENTE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0" y="3035808"/>
            <a:ext cx="420624" cy="420624"/>
          </a:xfrm>
          <a:prstGeom prst="ellipse">
            <a:avLst/>
          </a:prstGeom>
          <a:solidFill>
            <a:srgbClr val="E07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05472" y="303580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profissional se mostra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629400" y="3639312"/>
            <a:ext cx="420624" cy="420624"/>
          </a:xfrm>
          <a:prstGeom prst="ellipse">
            <a:avLst/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205472" y="363931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ele fala e escuta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629400" y="4242816"/>
            <a:ext cx="420624" cy="42062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4242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05472" y="424281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ele executa e entrega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471830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desses três aparece em um relatório operacional.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5532120"/>
            <a:ext cx="10817352" cy="658368"/>
          </a:xfrm>
          <a:prstGeom prst="roundRect">
            <a:avLst>
              <a:gd name="adj" fmla="val 12500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678424"/>
            <a:ext cx="365760" cy="365760"/>
          </a:xfrm>
          <a:prstGeom prst="ellipse">
            <a:avLst/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678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17320" y="55321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das suas decisões sobre pessoas hoje se apoiam em percepção — e não em dado?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ACP  ·  Indicador IPA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81360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PRINCÍPIOS FUNDAMENTAIS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cliente no centro, como pilar estratégico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excelência começa com a compreensão profunda da jornada, das necessidades e das expectativas.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10817352" cy="1005840"/>
          </a:xfrm>
          <a:prstGeom prst="roundRect">
            <a:avLst>
              <a:gd name="adj" fmla="val 8182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414016"/>
            <a:ext cx="475488" cy="475488"/>
          </a:xfrm>
          <a:prstGeom prst="ellipse">
            <a:avLst/>
          </a:prstGeom>
          <a:solidFill>
            <a:srgbClr val="E07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414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91640" y="22768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dinâmico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2624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atendimento é uma competência crítica em ambientes de mudança constante nas necessidades, expectativas e perfis dos clientes.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10817352" cy="1005840"/>
          </a:xfrm>
          <a:prstGeom prst="roundRect">
            <a:avLst>
              <a:gd name="adj" fmla="val 8182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3566160"/>
            <a:ext cx="475488" cy="475488"/>
          </a:xfrm>
          <a:prstGeom prst="ellipse">
            <a:avLst/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566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91640" y="3429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Jornada antes do script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377647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entrega de valor nasce do entendimento da jornada real do cliente — não da repetição de um roteiro padronizado.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5800" y="4453128"/>
            <a:ext cx="10817352" cy="1005840"/>
          </a:xfrm>
          <a:prstGeom prst="roundRect">
            <a:avLst>
              <a:gd name="adj" fmla="val 8182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4718304"/>
            <a:ext cx="475488" cy="47548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718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91640" y="45811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Comportamento é competência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492861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Postura, escuta e método podem ser diagnosticados, desenvolvidos e acompanhados como qualquer outra competência técnica.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5800" y="5532120"/>
            <a:ext cx="10817352" cy="658368"/>
          </a:xfrm>
          <a:prstGeom prst="roundRect">
            <a:avLst>
              <a:gd name="adj" fmla="val 12500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678424"/>
            <a:ext cx="365760" cy="365760"/>
          </a:xfrm>
          <a:prstGeom prst="ellipse">
            <a:avLst/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678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17320" y="55321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Hoje, sua equipe adapta o atendimento ao cliente — ou adapta o cliente ao processo?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ACP  ·  Indicador IPA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81360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tríade que decide toda experiência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qualquer atendimento, três variáveis atuam ao mesmo tempo — e juntas formam o julgamento do cliente.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3364992" cy="3063240"/>
          </a:xfrm>
          <a:prstGeom prst="roundRect">
            <a:avLst>
              <a:gd name="adj" fmla="val 2687"/>
            </a:avLst>
          </a:prstGeom>
          <a:solidFill>
            <a:srgbClr val="1B3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" y="2578608"/>
            <a:ext cx="777240" cy="77724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578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69848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69848" y="37490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se MOSTRA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9848" y="422452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Postura, gestos e apresentação que transmitem profissionalismo e prontidão.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364992" cy="3063240"/>
          </a:xfrm>
          <a:prstGeom prst="roundRect">
            <a:avLst>
              <a:gd name="adj" fmla="val 2687"/>
            </a:avLst>
          </a:prstGeom>
          <a:solidFill>
            <a:srgbClr val="1B3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27448" y="2578608"/>
            <a:ext cx="777240" cy="777240"/>
          </a:xfrm>
          <a:prstGeom prst="ellipse">
            <a:avLst/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2578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27448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27448" y="37490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se FALA/ESCUTA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27448" y="422452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Clareza, escuta ativa e troca eficiente de informação em todo o relacionamento.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01000" y="2286000"/>
            <a:ext cx="3364992" cy="3063240"/>
          </a:xfrm>
          <a:prstGeom prst="roundRect">
            <a:avLst>
              <a:gd name="adj" fmla="val 2687"/>
            </a:avLst>
          </a:prstGeom>
          <a:solidFill>
            <a:srgbClr val="1B3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85048" y="2578608"/>
            <a:ext cx="777240" cy="7772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85048" y="2578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385048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85048" y="37490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se FAZ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5048" y="422452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e processos técnicos validados que asseguram a entrega efetiva do serviço.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5623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possível escolher duas. O cliente avalia as três — simultaneamente.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ACP  ·  Indicador IPA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81360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PSICOLOGIA DO ATENDIMENTO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variável responde a uma necessidade humana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uma delas falha, o cliente não sente uma falha de processo. Ele sente uma falha pessoal.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10817352" cy="969264"/>
          </a:xfrm>
          <a:prstGeom prst="roundRect">
            <a:avLst>
              <a:gd name="adj" fmla="val 8491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2377440"/>
            <a:ext cx="512064" cy="512064"/>
          </a:xfrm>
          <a:prstGeom prst="ellipse">
            <a:avLst/>
          </a:prstGeom>
          <a:solidFill>
            <a:srgbClr val="E07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22951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ATENÇÃO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91640" y="26243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não verbal, gestos, postura e apresentação.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2386584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E07A5F">
              <a:alpha val="3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3865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AUTOESTIMA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915400" y="23865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visto e valorizado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3264408"/>
            <a:ext cx="10817352" cy="969264"/>
          </a:xfrm>
          <a:prstGeom prst="roundRect">
            <a:avLst>
              <a:gd name="adj" fmla="val 8491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7552" y="3493008"/>
            <a:ext cx="512064" cy="512064"/>
          </a:xfrm>
          <a:prstGeom prst="ellipse">
            <a:avLst/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493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91640" y="3410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COMUNICAÇÃO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91640" y="37398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informações, clareza na fala e escuta ativa.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3502152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E9B44C">
              <a:alpha val="3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5021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915400" y="35021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o que vai acontecer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85800" y="4379976"/>
            <a:ext cx="10817352" cy="969264"/>
          </a:xfrm>
          <a:prstGeom prst="roundRect">
            <a:avLst>
              <a:gd name="adj" fmla="val 8491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" y="4608576"/>
            <a:ext cx="512064" cy="51206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46085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91640" y="4526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PROCEDIMENTO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691640" y="48554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Métodos, processos validados e realização efetiva do serviço.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0" y="461772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2A9D8F">
              <a:alpha val="3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617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JUSTO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15400" y="4617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Receber o que foi combinado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85800" y="5532120"/>
            <a:ext cx="10817352" cy="658368"/>
          </a:xfrm>
          <a:prstGeom prst="roundRect">
            <a:avLst>
              <a:gd name="adj" fmla="val 12500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5678424"/>
            <a:ext cx="365760" cy="365760"/>
          </a:xfrm>
          <a:prstGeom prst="ellipse">
            <a:avLst/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5678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417320" y="55321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dessas três necessidades o seu cliente sente que NÃO está sendo atendida hoje?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ACP  ·  Indicador IPA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881360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DINÂMICA DO ATENDIMENTO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excelência exige adaptação, não script.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intensidade de cada variável muda ao longo do atendimento — e o profissional precisa mudar com ela.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" y="2084832"/>
          <a:ext cx="6675120" cy="30906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51937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Intensidade relativa esperada por momento do atendimento (representação conceitual do modelo ACP).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589520" y="2103120"/>
            <a:ext cx="3913632" cy="1005840"/>
          </a:xfrm>
          <a:prstGeom prst="roundRect">
            <a:avLst>
              <a:gd name="adj" fmla="val 8182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845552" y="2377440"/>
            <a:ext cx="457200" cy="4572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45552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30768" y="22128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Início — conexão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430768" y="250545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demanda por Atenção e Comunicação para estabelecer confiança imediata e acolhimento.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589520" y="3236976"/>
            <a:ext cx="3913632" cy="1005840"/>
          </a:xfrm>
          <a:prstGeom prst="roundRect">
            <a:avLst>
              <a:gd name="adj" fmla="val 8182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845552" y="3511296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45552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430768" y="33467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Durante — execução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430768" y="363931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predominante no Procedimento técnico, mantendo fluidez informativa e agilidade.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589520" y="4370832"/>
            <a:ext cx="3913632" cy="1005840"/>
          </a:xfrm>
          <a:prstGeom prst="roundRect">
            <a:avLst>
              <a:gd name="adj" fmla="val 8182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845552" y="4645152"/>
            <a:ext cx="457200" cy="457200"/>
          </a:xfrm>
          <a:prstGeom prst="ellipse">
            <a:avLst/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45552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430768" y="44805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Término — fechamento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8430768" y="477316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 das três variáveis para garantir satisfação final e percepção de valor.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85800" y="5532120"/>
            <a:ext cx="10817352" cy="658368"/>
          </a:xfrm>
          <a:prstGeom prst="roundRect">
            <a:avLst>
              <a:gd name="adj" fmla="val 12500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14400" y="5678424"/>
            <a:ext cx="365760" cy="365760"/>
          </a:xfrm>
          <a:prstGeom prst="ellipse">
            <a:avLst/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4400" y="5678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1417320" y="55321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sua equipe sabe mudar de postura no meio do atendimento — ou entrega sempre o mesmo padrão?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85800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ACP  ·  Indicador IPA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881360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DE CONDUTA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estilos. Apenas um se adapta a todos.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profissional tende a privilegiar uma variável. Essa tendência é previsível — e mensurável.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5239512" cy="1417320"/>
          </a:xfrm>
          <a:prstGeom prst="roundRect">
            <a:avLst>
              <a:gd name="adj" fmla="val 5806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514600"/>
            <a:ext cx="548640" cy="54864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91640" y="24140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Centrado na Atenção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691640" y="2798064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 na conexão interpessoal e no acolhimento. Supre a necessidade de valorização e reconhecimento.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2194560"/>
            <a:ext cx="5239512" cy="1417320"/>
          </a:xfrm>
          <a:prstGeom prst="roundRect">
            <a:avLst>
              <a:gd name="adj" fmla="val 5806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514600"/>
            <a:ext cx="548640" cy="548640"/>
          </a:xfrm>
          <a:prstGeom prst="ellipse">
            <a:avLst/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269480" y="24140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Centrado na Comunicação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269480" y="2798064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Privilegia transparência e troca constante. Garante que o cliente saiba de cada etapa do processo.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3794760"/>
            <a:ext cx="5239512" cy="1417320"/>
          </a:xfrm>
          <a:prstGeom prst="roundRect">
            <a:avLst>
              <a:gd name="adj" fmla="val 5806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411480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691640" y="40142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Centrado no Procedimento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691640" y="4398264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precisão técnica e cumprimento rigoroso de métodos e normas operacionais.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3794760"/>
            <a:ext cx="5239512" cy="1417320"/>
          </a:xfrm>
          <a:prstGeom prst="roundRect">
            <a:avLst>
              <a:gd name="adj" fmla="val 5806"/>
            </a:avLst>
          </a:prstGeom>
          <a:solidFill>
            <a:srgbClr val="0E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4114800"/>
            <a:ext cx="548640" cy="548640"/>
          </a:xfrm>
          <a:prstGeom prst="ellipse">
            <a:avLst/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269480" y="40142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Estilo Equilibrado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269480" y="4398264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Transita entre as três variáveis conforme a demanda da situação. É a maturidade profissional em ação.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5532120"/>
            <a:ext cx="10817352" cy="658368"/>
          </a:xfrm>
          <a:prstGeom prst="roundRect">
            <a:avLst>
              <a:gd name="adj" fmla="val 12500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5678424"/>
            <a:ext cx="365760" cy="365760"/>
          </a:xfrm>
          <a:prstGeom prst="ellipse">
            <a:avLst/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678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417320" y="55321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eu descrevesse esses quatro estilos para a sua equipe, quantas pessoas você já consegue nomear?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ACP  ·  Indicador IPA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881360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alvo não é o máximo. É o equilíbrio.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excelência é medida pela diferença de pontuação entre os estilos: quanto menor a diferença, maior a adaptabilidade.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3310128" cy="2514600"/>
          </a:xfrm>
          <a:prstGeom prst="roundRect">
            <a:avLst>
              <a:gd name="adj" fmla="val 3273"/>
            </a:avLst>
          </a:prstGeom>
          <a:solidFill>
            <a:srgbClr val="1B3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420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ARMADILHA DA FALTA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697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Impessoalidade e distanciamento levam à desumanização — e geram insegurança e indignação no cliente.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5968" y="228600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2542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36008" y="28529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EQUILÍBRIO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4636008" y="345643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A3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justa medida: transitar entre Atenção, Comunicação e Procedimento sem ficar preso a nenhuma delas.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02168" y="2286000"/>
            <a:ext cx="3300984" cy="2514600"/>
          </a:xfrm>
          <a:prstGeom prst="roundRect">
            <a:avLst>
              <a:gd name="adj" fmla="val 3273"/>
            </a:avLst>
          </a:prstGeom>
          <a:solidFill>
            <a:srgbClr val="1B3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22208" y="25420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ARMADILHA DO EXCESSO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522208" y="2926080"/>
            <a:ext cx="2697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Excesso de atenção se torna invasivo. Excesso de procedimento vira burocracia. Excesso de comunicação vira ruído.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51206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métrica é a flexibilidade.  </a:t>
            </a:r>
            <a:pPr algn="ctr" indent="0" marL="0">
              <a:buNone/>
            </a:pPr>
            <a:r>
              <a:rPr lang="en-US" sz="15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perguntamos quem é bom. Perguntamos quem consegue mudar.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ACP  ·  Indicador IPA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881360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IPA — Indicador de Preferência de Conduta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ferramenta de diagnóstico que transforma percepções subjetivas em dados acionáveis para a liderança.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3364992" cy="2926080"/>
          </a:xfrm>
          <a:prstGeom prst="roundRect">
            <a:avLst>
              <a:gd name="adj" fmla="val 2813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" y="2514600"/>
            <a:ext cx="457200" cy="4572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312724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Percepção vs. realidade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69848" y="3767328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focada em ações concretas e comportamentos observáveis, indo além da autoimagem ou das intenções do colaborador.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240280"/>
            <a:ext cx="3364992" cy="2926080"/>
          </a:xfrm>
          <a:prstGeom prst="roundRect">
            <a:avLst>
              <a:gd name="adj" fmla="val 2813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27448" y="2514600"/>
            <a:ext cx="457200" cy="457200"/>
          </a:xfrm>
          <a:prstGeom prst="ellipse">
            <a:avLst/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7448" y="312724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para desenvolvimento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727448" y="3767328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dos perfis predominantes para a criação de planos de capacitação e coaching altamente personalizados.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01000" y="2240280"/>
            <a:ext cx="3364992" cy="2926080"/>
          </a:xfrm>
          <a:prstGeom prst="roundRect">
            <a:avLst>
              <a:gd name="adj" fmla="val 2813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85048" y="251460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312724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para gestão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8385048" y="3767328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de comportamentos em indicadores objetivos, facilitando a decisão estratégica e o acompanhamento da evolução.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5532120"/>
            <a:ext cx="10817352" cy="658368"/>
          </a:xfrm>
          <a:prstGeom prst="roundRect">
            <a:avLst>
              <a:gd name="adj" fmla="val 12500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5678424"/>
            <a:ext cx="365760" cy="365760"/>
          </a:xfrm>
          <a:prstGeom prst="ellipse">
            <a:avLst/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678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17320" y="55321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tivesse esse mapa em mãos hoje, qual seria a primeira decisão que tomaria?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ACP  ·  Indicador IPA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81360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IPA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de camada dupla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profissional responde sobre o que faz. O sistema interpreta o que isso significa.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10817352" cy="1417320"/>
          </a:xfrm>
          <a:prstGeom prst="roundRect">
            <a:avLst>
              <a:gd name="adj" fmla="val 5806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31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1  ·  A EXPERIÊNCIA DO PROFISSIONAL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63347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 de ações concretas em ordem cronológica — o que reduz a carga cognitiva e aumenta a precisão da resposta.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03720" y="2606040"/>
            <a:ext cx="1371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4EB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26060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75320" y="260604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476488" y="2606040"/>
            <a:ext cx="1371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4EB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76488" y="26060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48088" y="260604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049256" y="2606040"/>
            <a:ext cx="1371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4EB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49256" y="26060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730752"/>
            <a:ext cx="10817352" cy="1417320"/>
          </a:xfrm>
          <a:prstGeom prst="roundRect">
            <a:avLst>
              <a:gd name="adj" fmla="val 5806"/>
            </a:avLst>
          </a:prstGeom>
          <a:solidFill>
            <a:srgbClr val="0E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913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2  ·  A LÓGICA ANALÍTICA (OCULTA)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4215384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respostas são mapeadas para os perfis comportamentais — o que impede a manipulação do resultado e garante integridade estatística.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223760" y="4160520"/>
            <a:ext cx="566928" cy="566928"/>
          </a:xfrm>
          <a:prstGeom prst="ellipse">
            <a:avLst/>
          </a:prstGeom>
          <a:solidFill>
            <a:srgbClr val="E07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8138160" y="4160520"/>
            <a:ext cx="566928" cy="566928"/>
          </a:xfrm>
          <a:prstGeom prst="ellipse">
            <a:avLst/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052560" y="4160520"/>
            <a:ext cx="566928" cy="56692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966960" y="41605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ACP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85800" y="53492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“deveria fazer” para o “realmente faço”.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685800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ACP  ·  Indicador IPA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81360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LIDERANÇA PASSA A ENXERGAR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 da equipe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sua equipe está concentrada — e o que ela deixa de entregar por causa disso.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651760" y="2084832"/>
            <a:ext cx="411480" cy="41148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06240" y="2084832"/>
            <a:ext cx="411480" cy="411480"/>
          </a:xfrm>
          <a:prstGeom prst="ellipse">
            <a:avLst/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60720" y="2084832"/>
            <a:ext cx="411480" cy="4114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6700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 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48840" y="267004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48840" y="267004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07A5F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26700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703320" y="267004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03320" y="267004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9B44C">
              <a:alpha val="3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26700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257800" y="267004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7800" y="267004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2A9D8F">
              <a:alpha val="81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26700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" y="32186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 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48840" y="321868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48840" y="321868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07A5F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48840" y="32186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703320" y="321868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03320" y="321868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9B44C">
              <a:alpha val="3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32186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257800" y="321868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57800" y="321868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2A9D8F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32186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5800" y="37673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 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148840" y="376732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48840" y="376732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07A5F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48840" y="37673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3703320" y="376732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03320" y="376732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9B44C">
              <a:alpha val="5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03320" y="37673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257800" y="376732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57800" y="376732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2A9D8F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57800" y="37673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85800" y="43159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 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148840" y="431596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148840" y="431596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07A5F">
              <a:alpha val="1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48840" y="43159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3703320" y="431596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03320" y="431596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9B44C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03320" y="43159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5257800" y="431596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57800" y="431596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2A9D8F">
              <a:alpha val="8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57800" y="43159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685800" y="48646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 5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148840" y="486460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148840" y="486460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07A5F">
              <a:alpha val="4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48840" y="48646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3703320" y="486460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03320" y="486460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9B44C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03320" y="48646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5257800" y="486460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57800" y="486460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2A9D8F">
              <a:alpha val="7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57800" y="48646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685800" y="54132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 6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148840" y="541324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148840" y="541324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07A5F">
              <a:alpha val="3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148840" y="54132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3703320" y="541324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703320" y="541324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9B44C">
              <a:alpha val="4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703320" y="54132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5257800" y="541324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257800" y="541324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2A9D8F">
              <a:alpha val="7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257800" y="54132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250" dirty="0"/>
          </a:p>
        </p:txBody>
      </p:sp>
      <p:sp>
        <p:nvSpPr>
          <p:cNvPr id="71" name="Text 69"/>
          <p:cNvSpPr/>
          <p:nvPr/>
        </p:nvSpPr>
        <p:spPr>
          <a:xfrm>
            <a:off x="685800" y="60350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ilustrativo · escala de intensidade 0–100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7086600" y="2084832"/>
            <a:ext cx="4416552" cy="2148840"/>
          </a:xfrm>
          <a:prstGeom prst="roundRect">
            <a:avLst>
              <a:gd name="adj" fmla="val 3830"/>
            </a:avLst>
          </a:prstGeom>
          <a:solidFill>
            <a:srgbClr val="0E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06640" y="2304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EXECUTIVA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7406640" y="265176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dos seis profissionais estão concentrados em Procedimento e têm baixa Atenção. Essa equipe entrega o serviço — e perde o cliente no caminho.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7086600" y="4416552"/>
            <a:ext cx="4416552" cy="1417320"/>
          </a:xfrm>
          <a:prstGeom prst="roundRect">
            <a:avLst>
              <a:gd name="adj" fmla="val 5806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40664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FLEXIBILIDADE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7406640" y="491947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a capacidade de cada colaborador de mudar a postura conforme o atendimento evolui — do início ao fechamento.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685800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ACP  ·  Indicador IPA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0881360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DIAGNÓSTICO AO DESENVOLVIMENTO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classificamos pessoas. Expandimos repertório.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essa premissa que garante a adesão da equipe e a veracidade das respostas.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3364992" cy="2880360"/>
          </a:xfrm>
          <a:prstGeom prst="roundRect">
            <a:avLst>
              <a:gd name="adj" fmla="val 2857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" y="2560320"/>
            <a:ext cx="548640" cy="54864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69848" y="321868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julgamento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69848" y="384048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perfil “bom” ou “mau”. O foco é o autoconhecimento e a análise neutra, sem juízos de valor simplistas.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286000"/>
            <a:ext cx="3364992" cy="2880360"/>
          </a:xfrm>
          <a:prstGeom prst="roundRect">
            <a:avLst>
              <a:gd name="adj" fmla="val 2857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27448" y="2560320"/>
            <a:ext cx="548640" cy="548640"/>
          </a:xfrm>
          <a:prstGeom prst="ellipse">
            <a:avLst/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27448" y="321868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Expansão de repertório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727448" y="384048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é desenvolver a flexibilidade para transitar entre estilos com naturalidade e eficácia situacional.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01000" y="2286000"/>
            <a:ext cx="3364992" cy="2880360"/>
          </a:xfrm>
          <a:prstGeom prst="roundRect">
            <a:avLst>
              <a:gd name="adj" fmla="val 2857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5048" y="256032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5048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85048" y="321868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ação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385048" y="384048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Sugestões concretas e personalizadas para fortalecer os perfis com menor pontuação, conectadas às metas do negócio.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5532120"/>
            <a:ext cx="10817352" cy="658368"/>
          </a:xfrm>
          <a:prstGeom prst="roundRect">
            <a:avLst>
              <a:gd name="adj" fmla="val 12500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678424"/>
            <a:ext cx="365760" cy="365760"/>
          </a:xfrm>
          <a:prstGeom prst="ellipse">
            <a:avLst/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678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17320" y="55321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sua equipe faria se soubesse exatamente qual comportamento desenvolver — em vez de receber mais um treinamento genérico?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ACP  ·  Indicador IPA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81360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TALENTOS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na mesa da liderança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IPA entrega à gestão uma linguagem técnica comum para falar de comportamento.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10817352" cy="1024128"/>
          </a:xfrm>
          <a:prstGeom prst="roundRect">
            <a:avLst>
              <a:gd name="adj" fmla="val 8036"/>
            </a:avLst>
          </a:prstGeom>
          <a:solidFill>
            <a:srgbClr val="1B3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487168"/>
            <a:ext cx="438912" cy="43891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64208" y="23225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Formação direcionada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64208" y="2670048"/>
            <a:ext cx="9326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lacunas coletivas para desenhar treinamentos de alto impacto — otimizando recursos e maximizando o retorno sobre o investimento em capacitação.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364992"/>
            <a:ext cx="10817352" cy="1024128"/>
          </a:xfrm>
          <a:prstGeom prst="roundRect">
            <a:avLst>
              <a:gd name="adj" fmla="val 8036"/>
            </a:avLst>
          </a:prstGeom>
          <a:solidFill>
            <a:srgbClr val="1B3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657600"/>
            <a:ext cx="438912" cy="438912"/>
          </a:xfrm>
          <a:prstGeom prst="ellipse">
            <a:avLst/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34930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Suporte à gestão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64208" y="3840480"/>
            <a:ext cx="9326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Gestores instrumentados com vocabulário padronizado para feedbacks estruturados sobre performance, em vez de conversas baseadas em impressão.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535424"/>
            <a:ext cx="10817352" cy="1024128"/>
          </a:xfrm>
          <a:prstGeom prst="roundRect">
            <a:avLst>
              <a:gd name="adj" fmla="val 8036"/>
            </a:avLst>
          </a:prstGeom>
          <a:solidFill>
            <a:srgbClr val="1B3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4828032"/>
            <a:ext cx="438912" cy="43891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64208" y="4663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Equipes multidisciplinares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64208" y="5010912"/>
            <a:ext cx="9326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complementares onde perfis de alta Atenção equilibram perfis de alto Procedimento — cobrindo todas as necessidades do cliente pela soma dos talentos.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a homogeneidade é uma decisão estratégica — não uma consequência do acaso na contratação.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ACP  ·  Indicador IPA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81360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NO NEGÓCIO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Conectando soft skills a hard numbers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ACP correlacionados aos seus KPIs operacionais formam um modelo preditivo de sucesso no atendimento.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450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DA QUALIDADE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276148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retenção e de satisfação (NPS) por ajustes de conduta no ponto exato em que o cliente julga a experiência.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2240280"/>
            <a:ext cx="5239512" cy="1600200"/>
          </a:xfrm>
          <a:prstGeom prst="roundRect">
            <a:avLst>
              <a:gd name="adj" fmla="val 5143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2450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OPERACIONAL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29400" y="276148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retrabalho e melhor TMA pela assertividade da conduta — menos repetições, menos escalonamentos, menos reaberturas.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4041648"/>
            <a:ext cx="10817352" cy="1298448"/>
          </a:xfrm>
          <a:prstGeom prst="roundRect">
            <a:avLst>
              <a:gd name="adj" fmla="val 6338"/>
            </a:avLst>
          </a:prstGeom>
          <a:solidFill>
            <a:srgbClr val="0E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2245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Perfis ACP</a:t>
            </a:r>
            <a:pPr indent="0" marL="0">
              <a:buNone/>
            </a:pPr>
            <a:r>
              <a:rPr lang="en-US" sz="2400" dirty="0">
                <a:solidFill>
                  <a:srgbClr val="6B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+   </a:t>
            </a:r>
            <a:pPr indent="0" marL="0">
              <a:buNone/>
            </a:pPr>
            <a:r>
              <a:rPr lang="en-US" sz="24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IPA</a:t>
            </a:r>
            <a:pPr indent="0" marL="0">
              <a:buNone/>
            </a:pPr>
            <a:r>
              <a:rPr lang="en-US" sz="2400" dirty="0">
                <a:solidFill>
                  <a:srgbClr val="6B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=   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preditivo de sucesso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51560" y="473659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antecipadamente qual conduta gera o maior retorno em cada tipo de atendimento — e replicá-la.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5532120"/>
            <a:ext cx="10817352" cy="658368"/>
          </a:xfrm>
          <a:prstGeom prst="roundRect">
            <a:avLst>
              <a:gd name="adj" fmla="val 12500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678424"/>
            <a:ext cx="365760" cy="365760"/>
          </a:xfrm>
          <a:prstGeom prst="ellipse">
            <a:avLst/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678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55321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seu NPS subisse dez pontos nos próximos doze meses, quanto isso valeria para o negócio?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ACP  ·  Indicador IPA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81360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diretoria recebe ao final do processo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entregas concretas, prontas para virar decisão.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5239512" cy="1389888"/>
          </a:xfrm>
          <a:prstGeom prst="roundRect">
            <a:avLst>
              <a:gd name="adj" fmla="val 5921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450592"/>
            <a:ext cx="512064" cy="512064"/>
          </a:xfrm>
          <a:prstGeom prst="ellipse">
            <a:avLst/>
          </a:prstGeom>
          <a:solidFill>
            <a:srgbClr val="E07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450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55064" y="235000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 da equipe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655064" y="273405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visual de onde a equipe está concentrada e quais necessidades do cliente ficam descobertas.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2148840"/>
            <a:ext cx="5239512" cy="1389888"/>
          </a:xfrm>
          <a:prstGeom prst="roundRect">
            <a:avLst>
              <a:gd name="adj" fmla="val 5921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450592"/>
            <a:ext cx="512064" cy="512064"/>
          </a:xfrm>
          <a:prstGeom prst="ellipse">
            <a:avLst/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450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32904" y="235000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flexibilidade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232904" y="273405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 da capacidade de cada colaborador de mudar a postura conforme o atendimento evolui.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3721608"/>
            <a:ext cx="5239512" cy="1389888"/>
          </a:xfrm>
          <a:prstGeom prst="roundRect">
            <a:avLst>
              <a:gd name="adj" fmla="val 5921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4023360"/>
            <a:ext cx="512064" cy="51206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023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55064" y="392277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Relatórios individuais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655064" y="430682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Devolutiva por profissional, com análise neutra e plano de ação personalizado por perfil.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3721608"/>
            <a:ext cx="5239512" cy="1389888"/>
          </a:xfrm>
          <a:prstGeom prst="roundRect">
            <a:avLst>
              <a:gd name="adj" fmla="val 5921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4023360"/>
            <a:ext cx="512064" cy="512064"/>
          </a:xfrm>
          <a:prstGeom prst="ellipse">
            <a:avLst/>
          </a:prstGeom>
          <a:solidFill>
            <a:srgbClr val="E07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023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32904" y="392277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 de desenvolvimento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232904" y="430682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específicos para corrigir os gaps identificados estatisticamente — no lugar de treinamento genérico.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55321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consciência precede a mudança.”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5800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ACP  ·  Indicador IPA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81360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 semanas, do diagnóstico ao desenvolvimento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 de cronograma — ajustável ao calendário e ao público que a diretoria definir.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3364992" cy="3108960"/>
          </a:xfrm>
          <a:prstGeom prst="roundRect">
            <a:avLst>
              <a:gd name="adj" fmla="val 2647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487168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4871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SEM. 1 A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51560" y="29443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3401568"/>
            <a:ext cx="26700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da abordagem à Diretoria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do instrumento IPA — via digital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Processamento, identificação de perfis e análise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2194560"/>
            <a:ext cx="3364992" cy="3108960"/>
          </a:xfrm>
          <a:prstGeom prst="roundRect">
            <a:avLst>
              <a:gd name="adj" fmla="val 2647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2487168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4871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SEM. 3 A 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09160" y="29443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DEFINIÇÃO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09160" y="3401568"/>
            <a:ext cx="26700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dos resultados à Diretoria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da Política de Atendimento / Perfil Ideal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dos gaps entre perfil ideal e perfis reais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01000" y="2194560"/>
            <a:ext cx="3364992" cy="3108960"/>
          </a:xfrm>
          <a:prstGeom prst="roundRect">
            <a:avLst>
              <a:gd name="adj" fmla="val 2647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2487168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24871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SEM. 5 A 7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66760" y="29443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DESENVOLVIMENTO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66760" y="3401568"/>
            <a:ext cx="26700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do Programa de Desenvolvimento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Realização do programa + relatórios individuais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final de avaliação com a Direção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5532120"/>
            <a:ext cx="10817352" cy="658368"/>
          </a:xfrm>
          <a:prstGeom prst="roundRect">
            <a:avLst>
              <a:gd name="adj" fmla="val 12500"/>
            </a:avLst>
          </a:prstGeom>
          <a:solidFill>
            <a:srgbClr val="F1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678424"/>
            <a:ext cx="365760" cy="365760"/>
          </a:xfrm>
          <a:prstGeom prst="ellipse">
            <a:avLst/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678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17320" y="55321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começar na semana que vem, o que precisa acontecer entre esta reunião e a sexta-feira?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ACP  ·  Indicador IPA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81360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VOLTANDO AO INÍCIO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quatro perguntas que definem o próximo passo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mesmas três perguntas da abertura, agora com uma quarta.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5239512" cy="1389888"/>
          </a:xfrm>
          <a:prstGeom prst="roundRect">
            <a:avLst>
              <a:gd name="adj" fmla="val 5921"/>
            </a:avLst>
          </a:prstGeom>
          <a:solidFill>
            <a:srgbClr val="1B3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2697480"/>
            <a:ext cx="457200" cy="4572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55064" y="242316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seria o impacto no resultado se toda a linha de frente entregasse a experiência do seu melhor profissional?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2240280"/>
            <a:ext cx="5239512" cy="1389888"/>
          </a:xfrm>
          <a:prstGeom prst="roundRect">
            <a:avLst>
              <a:gd name="adj" fmla="val 5921"/>
            </a:avLst>
          </a:prstGeom>
          <a:solidFill>
            <a:srgbClr val="1B3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11112" y="2697480"/>
            <a:ext cx="457200" cy="457200"/>
          </a:xfrm>
          <a:prstGeom prst="ellipse">
            <a:avLst/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32904" y="242316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tivesse hoje o mapa comportamental da sua equipe, que decisão tomaria já na segunda-feira?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5800" y="3813048"/>
            <a:ext cx="5239512" cy="1389888"/>
          </a:xfrm>
          <a:prstGeom prst="roundRect">
            <a:avLst>
              <a:gd name="adj" fmla="val 5921"/>
            </a:avLst>
          </a:prstGeom>
          <a:solidFill>
            <a:srgbClr val="1B3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3272" y="4270248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55064" y="3995928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custa manter esse ponto cego por mais doze meses — em clientes, em retrabalho e em rotatividade?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263640" y="3813048"/>
            <a:ext cx="5239512" cy="1389888"/>
          </a:xfrm>
          <a:prstGeom prst="roundRect">
            <a:avLst>
              <a:gd name="adj" fmla="val 5921"/>
            </a:avLst>
          </a:prstGeom>
          <a:solidFill>
            <a:srgbClr val="1B3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11112" y="4270248"/>
            <a:ext cx="457200" cy="457200"/>
          </a:xfrm>
          <a:prstGeom prst="ellipse">
            <a:avLst/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1112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232904" y="3995928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 acontecer nesta reunião para que a aplicação do IPA comece na próxima semana?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85800" y="5577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dessas perguntas é respondida com opinião. Todas são respondidas com dado.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ACP  ·  Indicador IPA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81360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decisão hoje. Um diagnóstico em três semanas.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pedimos um projeto. Pedimos a definição de um público para a aplicação do IPA.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3364992" cy="2606040"/>
          </a:xfrm>
          <a:prstGeom prst="roundRect">
            <a:avLst>
              <a:gd name="adj" fmla="val 3158"/>
            </a:avLst>
          </a:prstGeom>
          <a:solidFill>
            <a:srgbClr val="1B3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" y="2606040"/>
            <a:ext cx="566928" cy="566928"/>
          </a:xfrm>
          <a:prstGeom prst="ellipse">
            <a:avLst/>
          </a:prstGeom>
          <a:solidFill>
            <a:srgbClr val="E07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9848" y="329184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 o público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" y="3877056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diretoria escolhe a área ou o time que será diagnosticado nesta primeira aplicação.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331720"/>
            <a:ext cx="3364992" cy="2606040"/>
          </a:xfrm>
          <a:prstGeom prst="roundRect">
            <a:avLst>
              <a:gd name="adj" fmla="val 3158"/>
            </a:avLst>
          </a:prstGeom>
          <a:solidFill>
            <a:srgbClr val="1B3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27448" y="2606040"/>
            <a:ext cx="566928" cy="566928"/>
          </a:xfrm>
          <a:prstGeom prst="ellipse">
            <a:avLst/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27448" y="329184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Aplicar o IPA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27448" y="3877056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digital, individual, sem interromper a operação da equipe.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01000" y="2331720"/>
            <a:ext cx="3364992" cy="2606040"/>
          </a:xfrm>
          <a:prstGeom prst="roundRect">
            <a:avLst>
              <a:gd name="adj" fmla="val 3158"/>
            </a:avLst>
          </a:prstGeom>
          <a:solidFill>
            <a:srgbClr val="1B3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5048" y="2606040"/>
            <a:ext cx="566928" cy="56692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5048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5048" y="329184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Receber o diagnóstico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85048" y="3877056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calor, índice de flexibilidade e relatórios individuais apresentados à Diretoria.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5138928"/>
            <a:ext cx="10817352" cy="868680"/>
          </a:xfrm>
          <a:prstGeom prst="roundRect">
            <a:avLst>
              <a:gd name="adj" fmla="val 9474"/>
            </a:avLst>
          </a:prstGeom>
          <a:solidFill>
            <a:srgbClr val="E9B4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513892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consciência precede a mudança — e a mudança começa por uma decisão de agenda.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85800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ACP  ·  Indicador IPA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81360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640080"/>
            <a:ext cx="3017520" cy="3017520"/>
          </a:xfrm>
          <a:prstGeom prst="ellipse">
            <a:avLst/>
          </a:prstGeom>
          <a:solidFill>
            <a:srgbClr val="E07A5F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2377440"/>
            <a:ext cx="3017520" cy="3017520"/>
          </a:xfrm>
          <a:prstGeom prst="ellipse">
            <a:avLst/>
          </a:prstGeom>
          <a:solidFill>
            <a:srgbClr val="E9B44C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377440"/>
            <a:ext cx="3017520" cy="3017520"/>
          </a:xfrm>
          <a:prstGeom prst="ellipse">
            <a:avLst/>
          </a:prstGeom>
          <a:solidFill>
            <a:srgbClr val="2A9D8F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Seguimos à disposição para detalhar o instrumento, o cronograma e o escopo da primeira aplicação.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5760720" cy="1005840"/>
          </a:xfrm>
          <a:prstGeom prst="roundRect">
            <a:avLst>
              <a:gd name="adj" fmla="val 8182"/>
            </a:avLst>
          </a:prstGeom>
          <a:solidFill>
            <a:srgbClr val="1B3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" y="3803904"/>
            <a:ext cx="438912" cy="43891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73936" y="3685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Francisco José Santos Milreu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773936" y="4023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(11) 9 9601-9682   ·   milreu@gmail.com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690872"/>
            <a:ext cx="5760720" cy="1005840"/>
          </a:xfrm>
          <a:prstGeom prst="roundRect">
            <a:avLst>
              <a:gd name="adj" fmla="val 8182"/>
            </a:avLst>
          </a:prstGeom>
          <a:solidFill>
            <a:srgbClr val="1B3A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" y="4974336"/>
            <a:ext cx="438912" cy="43891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73936" y="48554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Antonio Zuvela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773936" y="51937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(11) 9 9904-8188   ·   azuvela.td@gmail.com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6080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ACP  ·  Indicador de Preferência de Conduta (IPA)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Abordagem ACP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Abordagem ACP — Estratégia de Atendimento Baseada em Comportamentos</dc:title>
  <dc:subject>PptxGenJS Presentation</dc:subject>
  <dc:creator>Francisco Milreu · Antonio Zuvela</dc:creator>
  <cp:lastModifiedBy>Francisco Milreu · Antonio Zuvela</cp:lastModifiedBy>
  <cp:revision>1</cp:revision>
  <dcterms:created xsi:type="dcterms:W3CDTF">2026-08-16T12:55:32Z</dcterms:created>
  <dcterms:modified xsi:type="dcterms:W3CDTF">2026-08-16T12:55:32Z</dcterms:modified>
</cp:coreProperties>
</file>